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Montserrat Bold" charset="1" panose="00000800000000000000"/>
      <p:regular r:id="rId39"/>
    </p:embeddedFont>
    <p:embeddedFont>
      <p:font typeface="Montserrat" charset="1" panose="00000500000000000000"/>
      <p:regular r:id="rId40"/>
    </p:embeddedFont>
    <p:embeddedFont>
      <p:font typeface="DM Sans Bold" charset="1" panose="00000000000000000000"/>
      <p:regular r:id="rId41"/>
    </p:embeddedFont>
    <p:embeddedFont>
      <p:font typeface="DM Sans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57051" y="3382984"/>
            <a:ext cx="848990" cy="809571"/>
            <a:chOff x="0" y="0"/>
            <a:chExt cx="223602" cy="213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06041" y="3382984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55031" y="3382984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87331" y="4087780"/>
            <a:ext cx="10671969" cy="91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Deckora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34275" y="9477056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7331" y="4923654"/>
            <a:ext cx="10671969" cy="150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78"/>
              </a:lnSpc>
            </a:pPr>
            <a:r>
              <a:rPr lang="en-US" sz="43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Aplicación web para la optimización de la experiencia en entornos TCG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710" y="7452781"/>
            <a:ext cx="8327112" cy="222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8"/>
              </a:lnSpc>
            </a:pPr>
            <a:r>
              <a:rPr lang="en-US" sz="25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Integrantes:</a:t>
            </a:r>
          </a:p>
          <a:p>
            <a:pPr algn="just">
              <a:lnSpc>
                <a:spcPts val="3558"/>
              </a:lnSpc>
            </a:pPr>
            <a:r>
              <a:rPr lang="en-US" sz="25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-Anaís Palma Sánchez</a:t>
            </a:r>
          </a:p>
          <a:p>
            <a:pPr algn="just">
              <a:lnSpc>
                <a:spcPts val="3558"/>
              </a:lnSpc>
            </a:pPr>
            <a:r>
              <a:rPr lang="en-US" sz="25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-Vicente Verdaguer Gaete</a:t>
            </a:r>
          </a:p>
          <a:p>
            <a:pPr algn="just">
              <a:lnSpc>
                <a:spcPts val="3558"/>
              </a:lnSpc>
            </a:pPr>
            <a:r>
              <a:rPr lang="en-US" sz="25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Docente:</a:t>
            </a:r>
          </a:p>
          <a:p>
            <a:pPr algn="just">
              <a:lnSpc>
                <a:spcPts val="3558"/>
              </a:lnSpc>
            </a:pPr>
            <a:r>
              <a:rPr lang="en-US" sz="25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-Cristián Calderón Sánchez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84517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¿Qué vamos a ver?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00254" y="3314327"/>
            <a:ext cx="16230600" cy="401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5371"/>
              </a:lnSpc>
              <a:buFont typeface="Arial"/>
              <a:buChar char="•"/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Contexto</a:t>
            </a: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del proyecto y problema detectado</a:t>
            </a:r>
          </a:p>
          <a:p>
            <a:pPr algn="l" marL="773098" indent="-386549" lvl="1">
              <a:lnSpc>
                <a:spcPts val="5371"/>
              </a:lnSpc>
              <a:buFont typeface="Arial"/>
              <a:buChar char="•"/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Objetivos generales y específicos</a:t>
            </a:r>
          </a:p>
          <a:p>
            <a:pPr algn="l" marL="773098" indent="-386549" lvl="1">
              <a:lnSpc>
                <a:spcPts val="5371"/>
              </a:lnSpc>
              <a:buFont typeface="Arial"/>
              <a:buChar char="•"/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  <a:p>
            <a:pPr algn="l" marL="773098" indent="-386549" lvl="1">
              <a:lnSpc>
                <a:spcPts val="5371"/>
              </a:lnSpc>
              <a:buFont typeface="Arial"/>
              <a:buChar char="•"/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Propuesta de solución</a:t>
            </a:r>
          </a:p>
          <a:p>
            <a:pPr algn="l" marL="773098" indent="-386549" lvl="1">
              <a:lnSpc>
                <a:spcPts val="5371"/>
              </a:lnSpc>
              <a:buFont typeface="Arial"/>
              <a:buChar char="•"/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Alcance del proyecto</a:t>
            </a:r>
          </a:p>
          <a:p>
            <a:pPr algn="l" marL="773098" indent="-386549" lvl="1">
              <a:lnSpc>
                <a:spcPts val="5371"/>
              </a:lnSpc>
              <a:buFont typeface="Arial"/>
              <a:buChar char="•"/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y tecnologías utilizadas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939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Contexto del Proyecto y Problema Detectado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2288" y="4198862"/>
            <a:ext cx="16138566" cy="305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8"/>
              </a:lnSpc>
            </a:pPr>
            <a:r>
              <a:rPr lang="en-US" sz="3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crecimiento de los juegos de cartas coleccionables ha consolidado una comunidad activa de jugadores, tiendas y organizadores que operan en entornos tanto casuales como competitivos. Sin embargo, este mercado local carece de soluciones integrales que respondan a sus dinámicas actuales.</a:t>
            </a:r>
          </a:p>
          <a:p>
            <a:pPr algn="just" marL="0" indent="0" lvl="0">
              <a:lnSpc>
                <a:spcPts val="405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00254" y="3438152"/>
            <a:ext cx="16230600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Contexto</a:t>
            </a: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general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939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Contexto del Proyecto y Problema Detectado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00254" y="3438152"/>
            <a:ext cx="16230600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fragmentación del entorno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0254" y="4125614"/>
            <a:ext cx="16230600" cy="565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través de la observación directa, detectamos que la experiencia del usuario está fracturada en múltiples plataformas informales como Facebook o WhatsApp. Esta dispersión genera:</a:t>
            </a:r>
          </a:p>
          <a:p>
            <a:pPr algn="just">
              <a:lnSpc>
                <a:spcPts val="4082"/>
              </a:lnSpc>
            </a:pP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Falta de visibilidad y comunicación: Dificultad para localizar eventos y tiendas de manera centralizada.</a:t>
            </a:r>
          </a:p>
          <a:p>
            <a:pPr algn="just">
              <a:lnSpc>
                <a:spcPts val="4082"/>
              </a:lnSpc>
            </a:pP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Ineficiencia de las herramientas actuales: Dependencia de herramientas manuales, aisladas u obsoletas para la construcción y optimización de mazos, el registro de resultados y gestión de eventos/torneos.</a:t>
            </a:r>
          </a:p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939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Contexto del Proyecto y Problema Detectado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00254" y="3530407"/>
            <a:ext cx="16230600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Impacto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0254" y="6080529"/>
            <a:ext cx="16230600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Oportunidad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254" y="4291118"/>
            <a:ext cx="16230600" cy="154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falta de herramientas necesarias genera más que incomodidad, sino que crea una barrera de entrada para jugadores nuevos, además de limitar la fluidez de organizadores y jugadores veteranos.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0254" y="6841240"/>
            <a:ext cx="16230600" cy="154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Jugadores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Tiendas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Organizadores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4375" y="2798888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117409" y="297344"/>
            <a:ext cx="6615003" cy="9692312"/>
          </a:xfrm>
          <a:custGeom>
            <a:avLst/>
            <a:gdLst/>
            <a:ahLst/>
            <a:cxnLst/>
            <a:rect r="r" b="b" t="t" l="l"/>
            <a:pathLst>
              <a:path h="9692312" w="6615003">
                <a:moveTo>
                  <a:pt x="0" y="0"/>
                </a:moveTo>
                <a:lnTo>
                  <a:pt x="6615003" y="0"/>
                </a:lnTo>
                <a:lnTo>
                  <a:pt x="6615003" y="9692312"/>
                </a:lnTo>
                <a:lnTo>
                  <a:pt x="0" y="9692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375" y="965443"/>
            <a:ext cx="4984461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Diagrama árbol de problemas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285410" y="4333929"/>
            <a:ext cx="848990" cy="809571"/>
            <a:chOff x="0" y="0"/>
            <a:chExt cx="223602" cy="213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34400" y="4333929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83390" y="4333929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16517" y="5120675"/>
            <a:ext cx="8268894" cy="185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</a:p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generales y específicos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86846" y="9061139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939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 General y Objetivos Específicos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3903816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45502"/>
            <a:ext cx="13903816" cy="1021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Desarrollar una plataforma web que permita centralizar la gestión de colecciones, mazos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torneos de cartas coleccionables.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415080"/>
            <a:ext cx="13903816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Incorporación de herramientas de análisis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gestión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Mejorar visibilidad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Diseño de herramientas funcionales al momento de crear mazos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939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 General y Objetivos Específicos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3903816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Objetivos</a:t>
            </a: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48243"/>
            <a:ext cx="14679670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Diseño de base de datos y aplicación web que permita gestionar: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4555" y="4689879"/>
            <a:ext cx="3305088" cy="154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Usuarios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Cartas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Mazos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79290"/>
            <a:ext cx="13903816" cy="154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Desarrollar funcionalidades que permita la creación, administración y participación en torneos.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Integración de herramientras de análisis con 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8912" y="4731712"/>
            <a:ext cx="3305088" cy="102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Torneos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285410" y="4333929"/>
            <a:ext cx="848990" cy="809571"/>
            <a:chOff x="0" y="0"/>
            <a:chExt cx="223602" cy="213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34400" y="4333929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83390" y="4333929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71789" y="5203758"/>
            <a:ext cx="6344422" cy="91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Mercado objetivo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86846" y="9061139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3903816" cy="153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mercado objetivo al cual se orienta la solución corresponde a usuarios que participan en el entorno de los juegos de cartas coleccionables (TCG)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292282"/>
            <a:ext cx="13903816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Usuario</a:t>
            </a: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1: Jugador de TCG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33918"/>
            <a:ext cx="13903816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Usuario principal. Persona que participa activamente en juegos TCG con un nivel que varía entre casual y competitivo. Utiliza distintas plataformas y fuentes para informarse, además de herramientras externas para la gestión de mazos.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99579"/>
            <a:ext cx="13903816" cy="257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Necesidades: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Plataforma que centralice la información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Acceso a estadísticas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Herramientas de gestión de mazos</a:t>
            </a:r>
          </a:p>
          <a:p>
            <a:pPr algn="just">
              <a:lnSpc>
                <a:spcPts val="40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217834"/>
            <a:ext cx="13903816" cy="308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Dolores: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Información dispersa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Dificultad para encontrar torneos y eventos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Falta de herramientas necesarias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Dificultad para acceder a información</a:t>
            </a:r>
          </a:p>
          <a:p>
            <a:pPr algn="just">
              <a:lnSpc>
                <a:spcPts val="408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85725"/>
            <a:ext cx="13903816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Escenarios</a:t>
            </a: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de uso</a:t>
            </a: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Acceso a la pagina web de la aplicación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Consulta de torneos y eventos disponibles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Gestión de mazos y revisión de estadísticas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292282"/>
            <a:ext cx="13903816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Usuario</a:t>
            </a: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2: Organizador de torneos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33918"/>
            <a:ext cx="13903816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Usuario secundario. 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Corresponde a personas enfocadas en la planificación y ejecución de torneos, con un enfoque más estructurado y, en la mayoría de los casos, con formato competitivo.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99579"/>
            <a:ext cx="13903816" cy="35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Necesidades: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Gestión de inscripciones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Registro y control de resultados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Generación de enfrentamientos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Visualización de estadísticas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ifusión de torneos</a:t>
            </a:r>
          </a:p>
          <a:p>
            <a:pPr algn="just">
              <a:lnSpc>
                <a:spcPts val="40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217834"/>
            <a:ext cx="13903816" cy="257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Dolores: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Uso de herramientas manuales o poco especializadas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Alta probabilidad de errores en registros y resultados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Dificultad para organizar torneos de forma eficiente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Baja visibilidad de los eventos organizados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85725"/>
            <a:ext cx="13903816" cy="257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Escenarios</a:t>
            </a: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de uso</a:t>
            </a: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 durante la planificación y ejecución de torneos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Registro de jugadores e inscripciones previo al evento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Gestión de enfrentamientos y resultados en tiempo real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Publicación y difusión de torneos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292282"/>
            <a:ext cx="13903816" cy="5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Usuario</a:t>
            </a:r>
            <a:r>
              <a:rPr lang="en-US" b="true" sz="35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3: Tiendas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33918"/>
            <a:ext cx="13903816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  <a:spcBef>
                <a:spcPct val="0"/>
              </a:spcBef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Usuario secundario.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Incluye a establecimientos que comercializan productos relacionados a TCG y funcionan como puntos de encuentro. Además de organizar torneos, organizan eventos fuera del ambiente competitivo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99579"/>
            <a:ext cx="13903816" cy="257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Necesidades: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Gestión de distintos tipos de eventos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Difusión de actividades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Aumento de visibilidad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Herramientas de organización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Mercado 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217834"/>
            <a:ext cx="13903816" cy="257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Dolores: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Dificultad para atraer nuevos jugadores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Baja visibilidad de eventos y actividades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Dependencia de redes sociales para difusión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Falta de herramientas necesarias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85725"/>
            <a:ext cx="13903816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Escenarios</a:t>
            </a: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de uso</a:t>
            </a: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 en la planificación de eventos y actividades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Publicación y difusión de torneos y eventos comunitarios</a:t>
            </a:r>
          </a:p>
          <a:p>
            <a:pPr algn="l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Gestión de distintos tipos de eventos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285410" y="4333929"/>
            <a:ext cx="848990" cy="809571"/>
            <a:chOff x="0" y="0"/>
            <a:chExt cx="223602" cy="213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34400" y="4333929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83390" y="4333929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52814" y="5203758"/>
            <a:ext cx="7982373" cy="91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Propuesta de 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86846" y="9061139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Propuesta de Solución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3903816" cy="20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Plataforma web para usuarios del mundo TCG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Centraliza a la comunidad, herramientas y eventos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Elimina la fragmentación actual de herramientas e información</a:t>
            </a:r>
          </a:p>
          <a:p>
            <a:pPr algn="just" marL="0" indent="0" lvl="0">
              <a:lnSpc>
                <a:spcPts val="40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4375" y="2798888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011739" y="707093"/>
            <a:ext cx="7455950" cy="8872813"/>
          </a:xfrm>
          <a:custGeom>
            <a:avLst/>
            <a:gdLst/>
            <a:ahLst/>
            <a:cxnLst/>
            <a:rect r="r" b="b" t="t" l="l"/>
            <a:pathLst>
              <a:path h="8872813" w="7455950">
                <a:moveTo>
                  <a:pt x="0" y="0"/>
                </a:moveTo>
                <a:lnTo>
                  <a:pt x="7455951" y="0"/>
                </a:lnTo>
                <a:lnTo>
                  <a:pt x="7455951" y="8872814"/>
                </a:lnTo>
                <a:lnTo>
                  <a:pt x="0" y="887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375" y="965443"/>
            <a:ext cx="4984461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Situación actual (Jugador)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6138" y="2239147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287585" y="1375584"/>
            <a:ext cx="9712830" cy="8345663"/>
          </a:xfrm>
          <a:custGeom>
            <a:avLst/>
            <a:gdLst/>
            <a:ahLst/>
            <a:cxnLst/>
            <a:rect r="r" b="b" t="t" l="l"/>
            <a:pathLst>
              <a:path h="8345663" w="9712830">
                <a:moveTo>
                  <a:pt x="0" y="0"/>
                </a:moveTo>
                <a:lnTo>
                  <a:pt x="9712830" y="0"/>
                </a:lnTo>
                <a:lnTo>
                  <a:pt x="9712830" y="8345662"/>
                </a:lnTo>
                <a:lnTo>
                  <a:pt x="0" y="8345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138" y="700071"/>
            <a:ext cx="5029846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2"/>
              </a:lnSpc>
            </a:pPr>
            <a:r>
              <a:rPr lang="en-US" sz="4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Nuestra solución</a:t>
            </a:r>
          </a:p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(Jugador)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4375" y="2798888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76337" y="1272425"/>
            <a:ext cx="8159957" cy="8656742"/>
          </a:xfrm>
          <a:custGeom>
            <a:avLst/>
            <a:gdLst/>
            <a:ahLst/>
            <a:cxnLst/>
            <a:rect r="r" b="b" t="t" l="l"/>
            <a:pathLst>
              <a:path h="8656742" w="8159957">
                <a:moveTo>
                  <a:pt x="0" y="0"/>
                </a:moveTo>
                <a:lnTo>
                  <a:pt x="8159957" y="0"/>
                </a:lnTo>
                <a:lnTo>
                  <a:pt x="8159957" y="8656742"/>
                </a:lnTo>
                <a:lnTo>
                  <a:pt x="0" y="8656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274" y="715172"/>
            <a:ext cx="4984461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Situación actual (Organizador)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8447" y="2087866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911935" y="1163790"/>
            <a:ext cx="8464130" cy="8826731"/>
          </a:xfrm>
          <a:custGeom>
            <a:avLst/>
            <a:gdLst/>
            <a:ahLst/>
            <a:cxnLst/>
            <a:rect r="r" b="b" t="t" l="l"/>
            <a:pathLst>
              <a:path h="8826731" w="8464130">
                <a:moveTo>
                  <a:pt x="0" y="0"/>
                </a:moveTo>
                <a:lnTo>
                  <a:pt x="8464130" y="0"/>
                </a:lnTo>
                <a:lnTo>
                  <a:pt x="8464130" y="8826731"/>
                </a:lnTo>
                <a:lnTo>
                  <a:pt x="0" y="8826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8447" y="488277"/>
            <a:ext cx="5029846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2"/>
              </a:lnSpc>
            </a:pPr>
            <a:r>
              <a:rPr lang="en-US" sz="4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Nuestra solución</a:t>
            </a:r>
          </a:p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(Organizador)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285410" y="4333929"/>
            <a:ext cx="848990" cy="809571"/>
            <a:chOff x="0" y="0"/>
            <a:chExt cx="223602" cy="213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34400" y="4333929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83390" y="4333929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8500" y="5203758"/>
            <a:ext cx="7511000" cy="91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del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86846" y="9061139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5150725" cy="565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Incluye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Registro e inicio de sesión de usuarios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Gestión de perfiles dentro de la plataforma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Creación, edición y gestión (mazos y carpetas)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Visualización de estadísticas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Inscripción de usuarios y registro de resultados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Visualización de torneos disponibles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Publicación de eventos por parte de tiendas y organizaciones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Visualización de información de tiendas y eventos dentro de la plataforma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Inclusión de asistente de IA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5150725" cy="35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 incluye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esarrollo de una aplicación móvil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Implementación de sistemas de pago o monetización dentro de la plataforma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Desarrollo de funcionalidades avanzadas de inteligencia artificial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Gest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ión de inventario físico de cartas en tiendas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Soporte para juegos TCG fuera de Magic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5150725" cy="565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Supuestos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usuarios cuentan con acceso a internet y dispositivos compatibles con plataformas web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Existe un interés por parte de la comunidad de TCG en utilizar las herramientas digitales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datos necesarios pueden ser ingresados por los usuarios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datos necesarios para mazos, torneos y resultados estarán disponibles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organizadores y tiendas estarán dispuestos a adoptar la plataforma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usuario está dispuesto a registrarse en la plataforma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4159"/>
            <a:ext cx="1003725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Alcance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387532"/>
            <a:ext cx="15150725" cy="257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Restricciones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iempo limitado al periodo académico.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Equipo de trabajo reducido.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Implementación limitada a el TCG de Magic.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Infraestructura acotada para pruebas.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285410" y="4333929"/>
            <a:ext cx="848990" cy="809571"/>
            <a:chOff x="0" y="0"/>
            <a:chExt cx="223602" cy="213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34400" y="4333929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83390" y="4333929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08015" y="5203758"/>
            <a:ext cx="10671969" cy="185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y tecnologías utilizadas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86846" y="9061139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387532"/>
            <a:ext cx="15150725" cy="102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Vercel, plataforma tipo PaaS especializada en servicios web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517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y Tecnologías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55719"/>
            <a:ext cx="15927103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Desarrollado en Node.js con Express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Desplegado en Render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Organización modular, responsabilidades separadas.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78645"/>
            <a:ext cx="2363129" cy="175437"/>
            <a:chOff x="0" y="0"/>
            <a:chExt cx="5190797" cy="385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0810" cy="385341"/>
            </a:xfrm>
            <a:custGeom>
              <a:avLst/>
              <a:gdLst/>
              <a:ahLst/>
              <a:cxnLst/>
              <a:rect r="r" b="b" t="t" l="l"/>
              <a:pathLst>
                <a:path h="385341" w="5190810">
                  <a:moveTo>
                    <a:pt x="0" y="0"/>
                  </a:moveTo>
                  <a:lnTo>
                    <a:pt x="5190810" y="0"/>
                  </a:lnTo>
                  <a:lnTo>
                    <a:pt x="5190810" y="385341"/>
                  </a:lnTo>
                  <a:lnTo>
                    <a:pt x="0" y="385341"/>
                  </a:lnTo>
                  <a:close/>
                </a:path>
              </a:pathLst>
            </a:custGeom>
            <a:solidFill>
              <a:srgbClr val="150F5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387532"/>
            <a:ext cx="15150725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Base de datos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Supabase, base de datos relacional basada en PostgreSQL.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Auth Supabase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Pgvector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5172"/>
            <a:ext cx="10037252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2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y Tecnologías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533933"/>
            <a:ext cx="15927103" cy="205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2"/>
              </a:lnSpc>
            </a:pPr>
            <a:r>
              <a:rPr lang="en-US" sz="35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IA y servicios externos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IA</a:t>
            </a:r>
          </a:p>
          <a:p>
            <a:pPr algn="just" marL="773098" indent="-386549" lvl="1">
              <a:lnSpc>
                <a:spcPts val="4082"/>
              </a:lnSpc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Scryfall API</a:t>
            </a:r>
          </a:p>
          <a:p>
            <a:pPr algn="just" marL="773098" indent="-386549" lvl="1">
              <a:lnSpc>
                <a:spcPts val="4082"/>
              </a:lnSpc>
              <a:spcBef>
                <a:spcPct val="0"/>
              </a:spcBef>
              <a:buFont typeface="Arial"/>
              <a:buChar char="•"/>
            </a:pPr>
            <a:r>
              <a:rPr lang="en-US" sz="35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EmailJS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0593" y="686597"/>
            <a:ext cx="3650261" cy="688987"/>
          </a:xfrm>
          <a:custGeom>
            <a:avLst/>
            <a:gdLst/>
            <a:ahLst/>
            <a:cxnLst/>
            <a:rect r="r" b="b" t="t" l="l"/>
            <a:pathLst>
              <a:path h="688987" w="3650261">
                <a:moveTo>
                  <a:pt x="0" y="0"/>
                </a:moveTo>
                <a:lnTo>
                  <a:pt x="3650261" y="0"/>
                </a:lnTo>
                <a:lnTo>
                  <a:pt x="3650261" y="688987"/>
                </a:lnTo>
                <a:lnTo>
                  <a:pt x="0" y="6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5362" y="397349"/>
            <a:ext cx="9943778" cy="9492301"/>
          </a:xfrm>
          <a:custGeom>
            <a:avLst/>
            <a:gdLst/>
            <a:ahLst/>
            <a:cxnLst/>
            <a:rect r="r" b="b" t="t" l="l"/>
            <a:pathLst>
              <a:path h="9492301" w="9943778">
                <a:moveTo>
                  <a:pt x="0" y="0"/>
                </a:moveTo>
                <a:lnTo>
                  <a:pt x="9943778" y="0"/>
                </a:lnTo>
                <a:lnTo>
                  <a:pt x="9943778" y="9492302"/>
                </a:lnTo>
                <a:lnTo>
                  <a:pt x="0" y="9492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50901"/>
            <a:chOff x="0" y="0"/>
            <a:chExt cx="4816593" cy="2752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86846" y="9061139"/>
            <a:ext cx="11008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060111" y="3091250"/>
            <a:ext cx="848990" cy="809571"/>
            <a:chOff x="0" y="0"/>
            <a:chExt cx="223602" cy="213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09101" y="3091250"/>
            <a:ext cx="848990" cy="809571"/>
            <a:chOff x="0" y="0"/>
            <a:chExt cx="223602" cy="2132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58091" y="3091250"/>
            <a:ext cx="848990" cy="809571"/>
            <a:chOff x="0" y="0"/>
            <a:chExt cx="223602" cy="2132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28514" y="4312240"/>
            <a:ext cx="5997382" cy="91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8"/>
              </a:lnSpc>
            </a:pPr>
            <a:r>
              <a:rPr lang="en-US" sz="53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DAHF7nEnlnc</dc:identifier>
  <dcterms:modified xsi:type="dcterms:W3CDTF">2011-08-01T06:04:30Z</dcterms:modified>
  <cp:revision>1</cp:revision>
  <dc:title>TPY1101_EP1_001D_Equipo2_Presentacion</dc:title>
</cp:coreProperties>
</file>